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DA951BED-25AE-448C-A928-73310BAB3836}"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4303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spTree>
    <p:extLst>
      <p:ext uri="{BB962C8B-B14F-4D97-AF65-F5344CB8AC3E}">
        <p14:creationId xmlns:p14="http://schemas.microsoft.com/office/powerpoint/2010/main" val="1034965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9399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C12592-5076-4BC8-AA38-98C89DE69AC7}"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951BED-25AE-448C-A928-73310BAB3836}" type="slidenum">
              <a:rPr lang="en-IN" smtClean="0"/>
              <a:t>‹#›</a:t>
            </a:fld>
            <a:endParaRPr lang="en-IN"/>
          </a:p>
        </p:txBody>
      </p:sp>
    </p:spTree>
    <p:extLst>
      <p:ext uri="{BB962C8B-B14F-4D97-AF65-F5344CB8AC3E}">
        <p14:creationId xmlns:p14="http://schemas.microsoft.com/office/powerpoint/2010/main" val="3258395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C12592-5076-4BC8-AA38-98C89DE69AC7}" type="datetimeFigureOut">
              <a:rPr lang="en-IN" smtClean="0"/>
              <a:t>23-11-2025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A951BED-25AE-448C-A928-73310BAB3836}"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9385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3C12592-5076-4BC8-AA38-98C89DE69AC7}" type="datetimeFigureOut">
              <a:rPr lang="en-IN" smtClean="0"/>
              <a:t>23-11-2025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A951BED-25AE-448C-A928-73310BAB3836}"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5315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C12592-5076-4BC8-AA38-98C89DE69AC7}" type="datetimeFigureOut">
              <a:rPr lang="en-IN" smtClean="0"/>
              <a:t>23-11-2025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A951BED-25AE-448C-A928-73310BAB3836}" type="slidenum">
              <a:rPr lang="en-IN" smtClean="0"/>
              <a:t>‹#›</a:t>
            </a:fld>
            <a:endParaRPr lang="en-IN"/>
          </a:p>
        </p:txBody>
      </p:sp>
    </p:spTree>
    <p:extLst>
      <p:ext uri="{BB962C8B-B14F-4D97-AF65-F5344CB8AC3E}">
        <p14:creationId xmlns:p14="http://schemas.microsoft.com/office/powerpoint/2010/main" val="925046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C12592-5076-4BC8-AA38-98C89DE69AC7}"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951BED-25AE-448C-A928-73310BAB3836}"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258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C12592-5076-4BC8-AA38-98C89DE69AC7}"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951BED-25AE-448C-A928-73310BAB3836}" type="slidenum">
              <a:rPr lang="en-IN" smtClean="0"/>
              <a:t>‹#›</a:t>
            </a:fld>
            <a:endParaRPr lang="en-IN"/>
          </a:p>
        </p:txBody>
      </p:sp>
    </p:spTree>
    <p:extLst>
      <p:ext uri="{BB962C8B-B14F-4D97-AF65-F5344CB8AC3E}">
        <p14:creationId xmlns:p14="http://schemas.microsoft.com/office/powerpoint/2010/main" val="4024609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C12592-5076-4BC8-AA38-98C89DE69AC7}"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951BED-25AE-448C-A928-73310BAB3836}" type="slidenum">
              <a:rPr lang="en-IN" smtClean="0"/>
              <a:t>‹#›</a:t>
            </a:fld>
            <a:endParaRPr lang="en-IN"/>
          </a:p>
        </p:txBody>
      </p:sp>
    </p:spTree>
    <p:extLst>
      <p:ext uri="{BB962C8B-B14F-4D97-AF65-F5344CB8AC3E}">
        <p14:creationId xmlns:p14="http://schemas.microsoft.com/office/powerpoint/2010/main" val="124380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9851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1687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spTree>
    <p:extLst>
      <p:ext uri="{BB962C8B-B14F-4D97-AF65-F5344CB8AC3E}">
        <p14:creationId xmlns:p14="http://schemas.microsoft.com/office/powerpoint/2010/main" val="13823138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7275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43524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510230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C12592-5076-4BC8-AA38-98C89DE69AC7}"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951BED-25AE-448C-A928-73310BAB3836}"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27878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 Id="rId20"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3C12592-5076-4BC8-AA38-98C89DE69AC7}" type="datetimeFigureOut">
              <a:rPr lang="en-IN" smtClean="0"/>
              <a:t>23-11-2025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A951BED-25AE-448C-A928-73310BAB3836}" type="slidenum">
              <a:rPr lang="en-IN" smtClean="0"/>
              <a:t>‹#›</a:t>
            </a:fld>
            <a:endParaRPr lang="en-IN"/>
          </a:p>
        </p:txBody>
      </p:sp>
    </p:spTree>
    <p:extLst>
      <p:ext uri="{BB962C8B-B14F-4D97-AF65-F5344CB8AC3E}">
        <p14:creationId xmlns:p14="http://schemas.microsoft.com/office/powerpoint/2010/main" val="3983707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Human Culture and Evolution: A Symbiotic Journey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Intertwined Dance of Culture and Evolution</a:t>
            </a:r>
          </a:p>
        </p:txBody>
      </p:sp>
      <p:sp>
        <p:nvSpPr>
          <p:cNvPr id="3" name="Content Placeholder 2"/>
          <p:cNvSpPr>
            <a:spLocks noGrp="1"/>
          </p:cNvSpPr>
          <p:nvPr>
            <p:ph idx="1"/>
          </p:nvPr>
        </p:nvSpPr>
        <p:spPr/>
        <p:txBody>
          <a:bodyPr/>
          <a:lstStyle/>
          <a:p>
            <a:r>
              <a:t>Human culture, encompassing learned behaviors and beliefs, fundamentally shapes our evolutionary trajectory.</a:t>
            </a:r>
          </a:p>
          <a:p>
            <a:r>
              <a:t>Evolution, through genetic inheritance, influences our capacity to create, transmit, and adapt to cultural norms.</a:t>
            </a:r>
          </a:p>
          <a:p>
            <a:r>
              <a:t>This dynamic interplay leads to gene-culture coevolution, where genes and culture drive changes in each other over time.</a:t>
            </a:r>
          </a:p>
          <a:p>
            <a:r>
              <a:t>Cultural innovations, such as agriculture or tool use, create selective pressures favoring specific genetic traits.</a:t>
            </a:r>
          </a:p>
          <a:p>
            <a:r>
              <a:t>For instance, the development of agriculture led to the selection for lactose tolerance in certain populations.</a:t>
            </a:r>
          </a:p>
          <a:p>
            <a:r>
              <a:t>Cultural practices can either enhance or hinder the survival and reproduction of individuals, influencing gene frequencies.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Biological Evolution vs. Cultural Evolution</a:t>
            </a:r>
          </a:p>
        </p:txBody>
      </p:sp>
      <p:sp>
        <p:nvSpPr>
          <p:cNvPr id="3" name="Content Placeholder 2"/>
          <p:cNvSpPr>
            <a:spLocks noGrp="1"/>
          </p:cNvSpPr>
          <p:nvPr>
            <p:ph idx="1" sz="half"/>
          </p:nvPr>
        </p:nvSpPr>
        <p:spPr/>
        <p:txBody>
          <a:bodyPr/>
          <a:lstStyle/>
          <a:p>
            <a:r>
              <a:t>Biological Evolution: Primarily driven by genetic mutations and natural selection, leading to gradual changes in physical traits and instincts. Changes are inherited vertically, from parents to offspring, over generations.</a:t>
            </a:r>
          </a:p>
        </p:txBody>
      </p:sp>
      <p:sp>
        <p:nvSpPr>
          <p:cNvPr id="4" name="Content Placeholder 3"/>
          <p:cNvSpPr>
            <a:spLocks noGrp="1"/>
          </p:cNvSpPr>
          <p:nvPr>
            <p:ph idx="2" sz="half"/>
          </p:nvPr>
        </p:nvSpPr>
        <p:spPr/>
        <p:txBody>
          <a:bodyPr/>
          <a:lstStyle/>
          <a:p>
            <a:r>
              <a:t>Cultural Evolution: Driven by the transmission of learned behaviors, knowledge, and beliefs between individuals, both within and across generations. Cultural changes can spread rapidly through imitation, teaching, and innovation, affecting large groups quickly.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Examples of Gene-Culture Coevolution</a:t>
            </a:r>
          </a:p>
        </p:txBody>
      </p:sp>
      <p:sp>
        <p:nvSpPr>
          <p:cNvPr id="3" name="Content Placeholder 2"/>
          <p:cNvSpPr>
            <a:spLocks noGrp="1"/>
          </p:cNvSpPr>
          <p:nvPr>
            <p:ph idx="1" sz="half"/>
          </p:nvPr>
        </p:nvSpPr>
        <p:spPr/>
        <p:txBody>
          <a:bodyPr/>
          <a:lstStyle/>
          <a:p/>
        </p:txBody>
      </p:sp>
      <p:sp>
        <p:nvSpPr>
          <p:cNvPr id="4" name="Content Placeholder 3"/>
          <p:cNvSpPr>
            <a:spLocks noGrp="1"/>
          </p:cNvSpPr>
          <p:nvPr>
            <p:ph idx="2" sz="half"/>
          </p:nvPr>
        </p:nvSpPr>
        <p:spPr/>
        <p:txBody>
          <a:bodyPr/>
          <a:lstStyle/>
          <a:p>
            <a:r>
              <a:t>The depicted diagram shows examples such as lactose tolerance adaptation to dairy farming, illustrating the influence of culture on human evolution.</a:t>
            </a:r>
          </a:p>
        </p:txBody>
      </p:sp>
      <p:pic>
        <p:nvPicPr>
          <p:cNvPr id="5" name="Picture 4" descr="tmp_img_2_3.jpg"/>
          <p:cNvPicPr>
            <a:picLocks noChangeAspect="1"/>
          </p:cNvPicPr>
          <p:nvPr/>
        </p:nvPicPr>
        <p:blipFill>
          <a:blip r:embed="rId2"/>
          <a:stretch>
            <a:fillRect/>
          </a:stretch>
        </p:blipFill>
        <p:spPr>
          <a:xfrm>
            <a:off x="1298448" y="2560320"/>
            <a:ext cx="4718304" cy="331012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Understanding Our Past, Shaping Our Future</a:t>
            </a:r>
          </a:p>
        </p:txBody>
      </p:sp>
      <p:sp>
        <p:nvSpPr>
          <p:cNvPr id="3" name="Content Placeholder 2"/>
          <p:cNvSpPr>
            <a:spLocks noGrp="1"/>
          </p:cNvSpPr>
          <p:nvPr>
            <p:ph idx="1"/>
          </p:nvPr>
        </p:nvSpPr>
        <p:spPr/>
        <p:txBody>
          <a:bodyPr/>
          <a:lstStyle/>
          <a:p>
            <a:r>
              <a:t>The coevolution of genes and culture has been a defining feature of human history, enabling unprecedented adaptation.</a:t>
            </a:r>
          </a:p>
          <a:p>
            <a:r>
              <a:t>Acknowledging the ongoing interaction between biology and culture provides insights into current human diversity.</a:t>
            </a:r>
          </a:p>
          <a:p>
            <a:r>
              <a:t>Understanding these dynamics is crucial for addressing contemporary challenges related to health, behavior, and social structures.</a:t>
            </a:r>
          </a:p>
          <a:p>
            <a:r>
              <a:t>Further research is needed to fully unravel the complexities of gene-culture interactions and their implications.</a:t>
            </a:r>
          </a:p>
          <a:p>
            <a:r>
              <a:t>Explore how cultural practices influence genetic predispositions in various populations around the world.</a:t>
            </a:r>
          </a:p>
          <a:p>
            <a:r>
              <a:t>Consider the ethical implications of manipulating either genes or cultural norms in an attempt to 'improve' humanity.</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0</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Garamond</vt:lpstr>
      <vt:lpstr>Organic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Sahana R</dc:creator>
  <cp:lastModifiedBy>Sahana R</cp:lastModifiedBy>
  <cp:revision>1</cp:revision>
  <dcterms:created xsi:type="dcterms:W3CDTF">2025-11-22T19:36:27Z</dcterms:created>
  <dcterms:modified xsi:type="dcterms:W3CDTF">2025-11-22T19:36:43Z</dcterms:modified>
</cp:coreProperties>
</file>